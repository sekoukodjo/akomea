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92024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920240"/>
            <a:ext cx="4876678" cy="146304"/>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876678" y="1920240"/>
            <a:ext cx="2682172" cy="146304"/>
          </a:xfrm>
          <a:prstGeom prst="rect">
            <a:avLst/>
          </a:prstGeom>
          <a:solidFill>
            <a:srgbClr val="FFC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58850" y="1920240"/>
            <a:ext cx="4632844" cy="146304"/>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20040"/>
            <a:ext cx="11247120" cy="457200"/>
          </a:xfrm>
          <a:prstGeom prst="rect">
            <a:avLst/>
          </a:prstGeom>
          <a:noFill/>
        </p:spPr>
        <p:txBody>
          <a:bodyPr wrap="square" anchor="t">
            <a:spAutoFit/>
          </a:bodyPr>
          <a:lstStyle/>
          <a:p>
            <a:pPr algn="ctr"/>
            <a:r>
              <a:rPr sz="1600" b="1" i="0">
                <a:solidFill>
                  <a:srgbClr val="FFCE00"/>
                </a:solidFill>
                <a:latin typeface="Calibri"/>
              </a:rPr>
              <a:t>REPUBLIQUE TOGOLAISE  —  Togo AI Lab</a:t>
            </a:r>
          </a:p>
        </p:txBody>
      </p:sp>
      <p:sp>
        <p:nvSpPr>
          <p:cNvPr id="8" name="TextBox 7"/>
          <p:cNvSpPr txBox="1"/>
          <p:nvPr/>
        </p:nvSpPr>
        <p:spPr>
          <a:xfrm>
            <a:off x="457200" y="822960"/>
            <a:ext cx="11247120" cy="1005840"/>
          </a:xfrm>
          <a:prstGeom prst="rect">
            <a:avLst/>
          </a:prstGeom>
          <a:noFill/>
        </p:spPr>
        <p:txBody>
          <a:bodyPr wrap="square" anchor="ctr">
            <a:spAutoFit/>
          </a:bodyPr>
          <a:lstStyle/>
          <a:p>
            <a:pPr algn="ctr"/>
            <a:r>
              <a:rPr sz="3000" b="1" i="0">
                <a:solidFill>
                  <a:srgbClr val="FFFFFF"/>
                </a:solidFill>
                <a:latin typeface="Calibri"/>
              </a:rPr>
              <a:t>Acces aux telecommunications &amp; services numeriques au Togo</a:t>
            </a:r>
          </a:p>
        </p:txBody>
      </p:sp>
      <p:sp>
        <p:nvSpPr>
          <p:cNvPr id="9" name="TextBox 8"/>
          <p:cNvSpPr txBox="1"/>
          <p:nvPr/>
        </p:nvSpPr>
        <p:spPr>
          <a:xfrm>
            <a:off x="457200" y="2286000"/>
            <a:ext cx="11247120" cy="640080"/>
          </a:xfrm>
          <a:prstGeom prst="rect">
            <a:avLst/>
          </a:prstGeom>
          <a:noFill/>
        </p:spPr>
        <p:txBody>
          <a:bodyPr wrap="square" anchor="t">
            <a:spAutoFit/>
          </a:bodyPr>
          <a:lstStyle/>
          <a:p>
            <a:pPr algn="ctr"/>
            <a:r>
              <a:rPr sz="1800" b="1" i="0">
                <a:solidFill>
                  <a:srgbClr val="1C2B27"/>
                </a:solidFill>
                <a:latin typeface="Calibri"/>
              </a:rPr>
              <a:t>Diagnostic territorial · Zones blanches · Priorisation &amp; investissements</a:t>
            </a:r>
          </a:p>
        </p:txBody>
      </p:sp>
      <p:sp>
        <p:nvSpPr>
          <p:cNvPr id="10" name="Rectangle 9"/>
          <p:cNvSpPr/>
          <p:nvPr/>
        </p:nvSpPr>
        <p:spPr>
          <a:xfrm>
            <a:off x="822960" y="3291840"/>
            <a:ext cx="2377440" cy="11430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401568"/>
            <a:ext cx="2377440" cy="548640"/>
          </a:xfrm>
          <a:prstGeom prst="rect">
            <a:avLst/>
          </a:prstGeom>
          <a:noFill/>
        </p:spPr>
        <p:txBody>
          <a:bodyPr wrap="square" anchor="ctr">
            <a:spAutoFit/>
          </a:bodyPr>
          <a:lstStyle/>
          <a:p>
            <a:pPr algn="ctr"/>
            <a:r>
              <a:rPr sz="3000" b="1" i="0">
                <a:solidFill>
                  <a:srgbClr val="FFFFFF"/>
                </a:solidFill>
                <a:latin typeface="Calibri"/>
              </a:rPr>
              <a:t>19 788</a:t>
            </a:r>
          </a:p>
        </p:txBody>
      </p:sp>
      <p:sp>
        <p:nvSpPr>
          <p:cNvPr id="12" name="TextBox 11"/>
          <p:cNvSpPr txBox="1"/>
          <p:nvPr/>
        </p:nvSpPr>
        <p:spPr>
          <a:xfrm>
            <a:off x="822960" y="3950208"/>
            <a:ext cx="2377440" cy="457200"/>
          </a:xfrm>
          <a:prstGeom prst="rect">
            <a:avLst/>
          </a:prstGeom>
          <a:noFill/>
        </p:spPr>
        <p:txBody>
          <a:bodyPr wrap="square" anchor="ctr">
            <a:spAutoFit/>
          </a:bodyPr>
          <a:lstStyle/>
          <a:p>
            <a:pPr algn="ctr"/>
            <a:r>
              <a:rPr sz="1200" b="0" i="0">
                <a:solidFill>
                  <a:srgbClr val="FFFFFF"/>
                </a:solidFill>
                <a:latin typeface="Calibri"/>
              </a:rPr>
              <a:t>Agents mobile money</a:t>
            </a:r>
          </a:p>
        </p:txBody>
      </p:sp>
      <p:sp>
        <p:nvSpPr>
          <p:cNvPr id="13" name="Rectangle 12"/>
          <p:cNvSpPr/>
          <p:nvPr/>
        </p:nvSpPr>
        <p:spPr>
          <a:xfrm>
            <a:off x="3429000" y="3291840"/>
            <a:ext cx="2377440" cy="1143000"/>
          </a:xfrm>
          <a:prstGeom prst="rect">
            <a:avLst/>
          </a:prstGeom>
          <a:solidFill>
            <a:srgbClr val="0087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3401568"/>
            <a:ext cx="2377440" cy="548640"/>
          </a:xfrm>
          <a:prstGeom prst="rect">
            <a:avLst/>
          </a:prstGeom>
          <a:noFill/>
        </p:spPr>
        <p:txBody>
          <a:bodyPr wrap="square" anchor="ctr">
            <a:spAutoFit/>
          </a:bodyPr>
          <a:lstStyle/>
          <a:p>
            <a:pPr algn="ctr"/>
            <a:r>
              <a:rPr sz="3000" b="1" i="0">
                <a:solidFill>
                  <a:srgbClr val="FFFFFF"/>
                </a:solidFill>
                <a:latin typeface="Calibri"/>
              </a:rPr>
              <a:t>90</a:t>
            </a:r>
          </a:p>
        </p:txBody>
      </p:sp>
      <p:sp>
        <p:nvSpPr>
          <p:cNvPr id="15" name="TextBox 14"/>
          <p:cNvSpPr txBox="1"/>
          <p:nvPr/>
        </p:nvSpPr>
        <p:spPr>
          <a:xfrm>
            <a:off x="3429000" y="3950208"/>
            <a:ext cx="2377440" cy="457200"/>
          </a:xfrm>
          <a:prstGeom prst="rect">
            <a:avLst/>
          </a:prstGeom>
          <a:noFill/>
        </p:spPr>
        <p:txBody>
          <a:bodyPr wrap="square" anchor="ctr">
            <a:spAutoFit/>
          </a:bodyPr>
          <a:lstStyle/>
          <a:p>
            <a:pPr algn="ctr"/>
            <a:r>
              <a:rPr sz="1200" b="0" i="0">
                <a:solidFill>
                  <a:srgbClr val="FFFFFF"/>
                </a:solidFill>
                <a:latin typeface="Calibri"/>
              </a:rPr>
              <a:t>Agences telecoms</a:t>
            </a:r>
          </a:p>
        </p:txBody>
      </p:sp>
      <p:sp>
        <p:nvSpPr>
          <p:cNvPr id="16" name="Rectangle 15"/>
          <p:cNvSpPr/>
          <p:nvPr/>
        </p:nvSpPr>
        <p:spPr>
          <a:xfrm>
            <a:off x="6035040" y="3291840"/>
            <a:ext cx="2377440" cy="1143000"/>
          </a:xfrm>
          <a:prstGeom prst="rect">
            <a:avLst/>
          </a:prstGeom>
          <a:solidFill>
            <a:srgbClr val="6B7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3401568"/>
            <a:ext cx="2377440" cy="548640"/>
          </a:xfrm>
          <a:prstGeom prst="rect">
            <a:avLst/>
          </a:prstGeom>
          <a:noFill/>
        </p:spPr>
        <p:txBody>
          <a:bodyPr wrap="square" anchor="ctr">
            <a:spAutoFit/>
          </a:bodyPr>
          <a:lstStyle/>
          <a:p>
            <a:pPr algn="ctr"/>
            <a:r>
              <a:rPr sz="3000" b="1" i="0">
                <a:solidFill>
                  <a:srgbClr val="FFFFFF"/>
                </a:solidFill>
                <a:latin typeface="Calibri"/>
              </a:rPr>
              <a:t>3</a:t>
            </a:r>
          </a:p>
        </p:txBody>
      </p:sp>
      <p:sp>
        <p:nvSpPr>
          <p:cNvPr id="18" name="TextBox 17"/>
          <p:cNvSpPr txBox="1"/>
          <p:nvPr/>
        </p:nvSpPr>
        <p:spPr>
          <a:xfrm>
            <a:off x="6035040" y="3950208"/>
            <a:ext cx="2377440" cy="457200"/>
          </a:xfrm>
          <a:prstGeom prst="rect">
            <a:avLst/>
          </a:prstGeom>
          <a:noFill/>
        </p:spPr>
        <p:txBody>
          <a:bodyPr wrap="square" anchor="ctr">
            <a:spAutoFit/>
          </a:bodyPr>
          <a:lstStyle/>
          <a:p>
            <a:pPr algn="ctr"/>
            <a:r>
              <a:rPr sz="1200" b="0" i="0">
                <a:solidFill>
                  <a:srgbClr val="FFFFFF"/>
                </a:solidFill>
                <a:latin typeface="Calibri"/>
              </a:rPr>
              <a:t>Datacenters</a:t>
            </a:r>
          </a:p>
        </p:txBody>
      </p:sp>
      <p:sp>
        <p:nvSpPr>
          <p:cNvPr id="19" name="Rectangle 18"/>
          <p:cNvSpPr/>
          <p:nvPr/>
        </p:nvSpPr>
        <p:spPr>
          <a:xfrm>
            <a:off x="8641080" y="3291840"/>
            <a:ext cx="2651760" cy="1143000"/>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41080" y="3401568"/>
            <a:ext cx="2651760" cy="548640"/>
          </a:xfrm>
          <a:prstGeom prst="rect">
            <a:avLst/>
          </a:prstGeom>
          <a:noFill/>
        </p:spPr>
        <p:txBody>
          <a:bodyPr wrap="square" anchor="ctr">
            <a:spAutoFit/>
          </a:bodyPr>
          <a:lstStyle/>
          <a:p>
            <a:pPr algn="ctr"/>
            <a:r>
              <a:rPr sz="3000" b="1" i="0">
                <a:solidFill>
                  <a:srgbClr val="FFFFFF"/>
                </a:solidFill>
                <a:latin typeface="Calibri"/>
              </a:rPr>
              <a:t>78</a:t>
            </a:r>
          </a:p>
        </p:txBody>
      </p:sp>
      <p:sp>
        <p:nvSpPr>
          <p:cNvPr id="21" name="TextBox 20"/>
          <p:cNvSpPr txBox="1"/>
          <p:nvPr/>
        </p:nvSpPr>
        <p:spPr>
          <a:xfrm>
            <a:off x="8641080" y="3950208"/>
            <a:ext cx="2651760" cy="457200"/>
          </a:xfrm>
          <a:prstGeom prst="rect">
            <a:avLst/>
          </a:prstGeom>
          <a:noFill/>
        </p:spPr>
        <p:txBody>
          <a:bodyPr wrap="square" anchor="ctr">
            <a:spAutoFit/>
          </a:bodyPr>
          <a:lstStyle/>
          <a:p>
            <a:pPr algn="ctr"/>
            <a:r>
              <a:rPr sz="1200" b="0" i="0">
                <a:solidFill>
                  <a:srgbClr val="FFFFFF"/>
                </a:solidFill>
                <a:latin typeface="Calibri"/>
              </a:rPr>
              <a:t>Zones blanches (cantons)</a:t>
            </a:r>
          </a:p>
        </p:txBody>
      </p:sp>
      <p:sp>
        <p:nvSpPr>
          <p:cNvPr id="22" name="TextBox 21"/>
          <p:cNvSpPr txBox="1"/>
          <p:nvPr/>
        </p:nvSpPr>
        <p:spPr>
          <a:xfrm>
            <a:off x="457200" y="4937760"/>
            <a:ext cx="11247120" cy="548640"/>
          </a:xfrm>
          <a:prstGeom prst="rect">
            <a:avLst/>
          </a:prstGeom>
          <a:noFill/>
        </p:spPr>
        <p:txBody>
          <a:bodyPr wrap="square" anchor="t">
            <a:spAutoFit/>
          </a:bodyPr>
          <a:lstStyle/>
          <a:p>
            <a:pPr algn="ctr"/>
            <a:r>
              <a:rPr sz="1400" b="0" i="1">
                <a:solidFill>
                  <a:srgbClr val="6B7B76"/>
                </a:solidFill>
                <a:latin typeface="Calibri"/>
              </a:rPr>
              <a:t>Population de reference : projection 2026 = 8 866 375 hab. (RGPH-5 2022, taux 2.3 %/an)</a:t>
            </a:r>
          </a:p>
        </p:txBody>
      </p:sp>
      <p:sp>
        <p:nvSpPr>
          <p:cNvPr id="23" name="TextBox 22"/>
          <p:cNvSpPr txBox="1"/>
          <p:nvPr/>
        </p:nvSpPr>
        <p:spPr>
          <a:xfrm>
            <a:off x="457200" y="5943600"/>
            <a:ext cx="11247120" cy="548640"/>
          </a:xfrm>
          <a:prstGeom prst="rect">
            <a:avLst/>
          </a:prstGeom>
          <a:noFill/>
        </p:spPr>
        <p:txBody>
          <a:bodyPr wrap="square" anchor="t">
            <a:spAutoFit/>
          </a:bodyPr>
          <a:lstStyle/>
          <a:p>
            <a:pPr algn="ctr"/>
            <a:r>
              <a:rPr sz="1300" b="1" i="0">
                <a:solidFill>
                  <a:srgbClr val="0B6E4F"/>
                </a:solidFill>
                <a:latin typeface="Calibri"/>
              </a:rPr>
              <a:t>Maurice Kodjo SEKOU — Analyste Statisticien  |  Shiny for Python · Highcharts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4876678" cy="11887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914400"/>
            <a:ext cx="2682172" cy="118872"/>
          </a:xfrm>
          <a:prstGeom prst="rect">
            <a:avLst/>
          </a:prstGeom>
          <a:solidFill>
            <a:srgbClr val="FFC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58850" y="914400"/>
            <a:ext cx="4632844" cy="118872"/>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
            <a:ext cx="10515600" cy="731520"/>
          </a:xfrm>
          <a:prstGeom prst="rect">
            <a:avLst/>
          </a:prstGeom>
          <a:noFill/>
        </p:spPr>
        <p:txBody>
          <a:bodyPr wrap="square" anchor="ctr">
            <a:spAutoFit/>
          </a:bodyPr>
          <a:lstStyle/>
          <a:p>
            <a:pPr algn="l"/>
            <a:r>
              <a:rPr sz="2600" b="1" i="0">
                <a:solidFill>
                  <a:srgbClr val="FFFFFF"/>
                </a:solidFill>
                <a:latin typeface="Calibri"/>
              </a:rPr>
              <a:t>Contexte &amp; objectifs</a:t>
            </a:r>
          </a:p>
        </p:txBody>
      </p:sp>
      <p:sp>
        <p:nvSpPr>
          <p:cNvPr id="7" name="TextBox 6"/>
          <p:cNvSpPr txBox="1"/>
          <p:nvPr/>
        </p:nvSpPr>
        <p:spPr>
          <a:xfrm>
            <a:off x="11155680" y="109728"/>
            <a:ext cx="822960" cy="731520"/>
          </a:xfrm>
          <a:prstGeom prst="rect">
            <a:avLst/>
          </a:prstGeom>
          <a:noFill/>
        </p:spPr>
        <p:txBody>
          <a:bodyPr wrap="square" anchor="ctr">
            <a:spAutoFit/>
          </a:bodyPr>
          <a:lstStyle/>
          <a:p>
            <a:pPr algn="r"/>
            <a:r>
              <a:rPr sz="1400" b="1" i="0">
                <a:solidFill>
                  <a:srgbClr val="FFCE00"/>
                </a:solidFill>
                <a:latin typeface="Calibri"/>
              </a:rPr>
              <a:t>2/10</a:t>
            </a:r>
          </a:p>
        </p:txBody>
      </p:sp>
      <p:sp>
        <p:nvSpPr>
          <p:cNvPr id="8" name="TextBox 7"/>
          <p:cNvSpPr txBox="1"/>
          <p:nvPr/>
        </p:nvSpPr>
        <p:spPr>
          <a:xfrm>
            <a:off x="457200" y="1280160"/>
            <a:ext cx="11247120" cy="822960"/>
          </a:xfrm>
          <a:prstGeom prst="rect">
            <a:avLst/>
          </a:prstGeom>
          <a:noFill/>
        </p:spPr>
        <p:txBody>
          <a:bodyPr wrap="square" anchor="t">
            <a:spAutoFit/>
          </a:bodyPr>
          <a:lstStyle/>
          <a:p>
            <a:pPr algn="l"/>
            <a:r>
              <a:rPr sz="1600" b="0" i="0">
                <a:solidFill>
                  <a:srgbClr val="1C2B27"/>
                </a:solidFill>
                <a:latin typeface="Calibri"/>
              </a:rPr>
              <a:t>A partir des donnees ouvertes sur les infrastructures telecoms, les services numeriques et la demographie, dresser un diagnostic territorial de l'acces au numerique et prioriser l'extension de la connectivite et de l'inclusion.</a:t>
            </a:r>
          </a:p>
        </p:txBody>
      </p:sp>
      <p:sp>
        <p:nvSpPr>
          <p:cNvPr id="9" name="TextBox 8"/>
          <p:cNvSpPr txBox="1"/>
          <p:nvPr/>
        </p:nvSpPr>
        <p:spPr>
          <a:xfrm>
            <a:off x="640080" y="2377440"/>
            <a:ext cx="10972800" cy="3657600"/>
          </a:xfrm>
          <a:prstGeom prst="rect">
            <a:avLst/>
          </a:prstGeom>
          <a:noFill/>
        </p:spPr>
        <p:txBody>
          <a:bodyPr wrap="square">
            <a:spAutoFit/>
          </a:bodyPr>
          <a:lstStyle/>
          <a:p>
            <a:pPr>
              <a:spcAft>
                <a:spcPts val="800"/>
              </a:spcAft>
            </a:pPr>
            <a:r>
              <a:rPr sz="1700">
                <a:solidFill>
                  <a:srgbClr val="1C2B27"/>
                </a:solidFill>
                <a:latin typeface="Calibri"/>
              </a:rPr>
              <a:t>•  Cartographier les agences des operateurs (Togocom, Moov, CANAL+) et les datacenters.</a:t>
            </a:r>
          </a:p>
          <a:p>
            <a:pPr>
              <a:spcAft>
                <a:spcPts val="800"/>
              </a:spcAft>
            </a:pPr>
            <a:r>
              <a:rPr sz="1700">
                <a:solidFill>
                  <a:srgbClr val="1C2B27"/>
                </a:solidFill>
                <a:latin typeface="Calibri"/>
              </a:rPr>
              <a:t>•  Analyser la couverture des services (mobile money) et son adequation a la population.</a:t>
            </a:r>
          </a:p>
          <a:p>
            <a:pPr>
              <a:spcAft>
                <a:spcPts val="800"/>
              </a:spcAft>
            </a:pPr>
            <a:r>
              <a:rPr sz="1700">
                <a:solidFill>
                  <a:srgbClr val="1C2B27"/>
                </a:solidFill>
                <a:latin typeface="Calibri"/>
              </a:rPr>
              <a:t>•  Croiser la localisation des infrastructures avec la densite demographique.</a:t>
            </a:r>
          </a:p>
          <a:p>
            <a:pPr>
              <a:spcAft>
                <a:spcPts val="800"/>
              </a:spcAft>
            </a:pPr>
            <a:r>
              <a:rPr sz="1700">
                <a:solidFill>
                  <a:srgbClr val="1C2B27"/>
                </a:solidFill>
                <a:latin typeface="Calibri"/>
              </a:rPr>
              <a:t>•  Identifier les zones blanches numeriques (localites non desservies).</a:t>
            </a:r>
          </a:p>
          <a:p>
            <a:pPr>
              <a:spcAft>
                <a:spcPts val="800"/>
              </a:spcAft>
            </a:pPr>
            <a:r>
              <a:rPr sz="1700">
                <a:solidFill>
                  <a:srgbClr val="1C2B27"/>
                </a:solidFill>
                <a:latin typeface="Calibri"/>
              </a:rPr>
              <a:t>•  Proposer des recommandations ciblees et chiffrees (FCFA / EUR).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4876678" cy="11887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914400"/>
            <a:ext cx="2682172" cy="118872"/>
          </a:xfrm>
          <a:prstGeom prst="rect">
            <a:avLst/>
          </a:prstGeom>
          <a:solidFill>
            <a:srgbClr val="FFC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58850" y="914400"/>
            <a:ext cx="4632844" cy="118872"/>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
            <a:ext cx="10515600" cy="731520"/>
          </a:xfrm>
          <a:prstGeom prst="rect">
            <a:avLst/>
          </a:prstGeom>
          <a:noFill/>
        </p:spPr>
        <p:txBody>
          <a:bodyPr wrap="square" anchor="ctr">
            <a:spAutoFit/>
          </a:bodyPr>
          <a:lstStyle/>
          <a:p>
            <a:pPr algn="l"/>
            <a:r>
              <a:rPr sz="2600" b="1" i="0">
                <a:solidFill>
                  <a:srgbClr val="FFFFFF"/>
                </a:solidFill>
                <a:latin typeface="Calibri"/>
              </a:rPr>
              <a:t>Donnees &amp; methode</a:t>
            </a:r>
          </a:p>
        </p:txBody>
      </p:sp>
      <p:sp>
        <p:nvSpPr>
          <p:cNvPr id="7" name="TextBox 6"/>
          <p:cNvSpPr txBox="1"/>
          <p:nvPr/>
        </p:nvSpPr>
        <p:spPr>
          <a:xfrm>
            <a:off x="11155680" y="109728"/>
            <a:ext cx="822960" cy="731520"/>
          </a:xfrm>
          <a:prstGeom prst="rect">
            <a:avLst/>
          </a:prstGeom>
          <a:noFill/>
        </p:spPr>
        <p:txBody>
          <a:bodyPr wrap="square" anchor="ctr">
            <a:spAutoFit/>
          </a:bodyPr>
          <a:lstStyle/>
          <a:p>
            <a:pPr algn="r"/>
            <a:r>
              <a:rPr sz="1400" b="1" i="0">
                <a:solidFill>
                  <a:srgbClr val="FFCE00"/>
                </a:solidFill>
                <a:latin typeface="Calibri"/>
              </a:rPr>
              <a:t>3/10</a:t>
            </a:r>
          </a:p>
        </p:txBody>
      </p:sp>
      <p:sp>
        <p:nvSpPr>
          <p:cNvPr id="8" name="TextBox 7"/>
          <p:cNvSpPr txBox="1"/>
          <p:nvPr/>
        </p:nvSpPr>
        <p:spPr>
          <a:xfrm>
            <a:off x="457200" y="1188720"/>
            <a:ext cx="5486400" cy="365760"/>
          </a:xfrm>
          <a:prstGeom prst="rect">
            <a:avLst/>
          </a:prstGeom>
          <a:noFill/>
        </p:spPr>
        <p:txBody>
          <a:bodyPr wrap="square" anchor="t">
            <a:spAutoFit/>
          </a:bodyPr>
          <a:lstStyle/>
          <a:p>
            <a:pPr algn="l"/>
            <a:r>
              <a:rPr sz="1800" b="1" i="0">
                <a:solidFill>
                  <a:srgbClr val="D21034"/>
                </a:solidFill>
                <a:latin typeface="Calibri"/>
              </a:rPr>
              <a:t>Donnees mobilisees</a:t>
            </a:r>
          </a:p>
        </p:txBody>
      </p:sp>
      <p:sp>
        <p:nvSpPr>
          <p:cNvPr id="9" name="TextBox 8"/>
          <p:cNvSpPr txBox="1"/>
          <p:nvPr/>
        </p:nvSpPr>
        <p:spPr>
          <a:xfrm>
            <a:off x="548640" y="1645920"/>
            <a:ext cx="5669280" cy="3657600"/>
          </a:xfrm>
          <a:prstGeom prst="rect">
            <a:avLst/>
          </a:prstGeom>
          <a:noFill/>
        </p:spPr>
        <p:txBody>
          <a:bodyPr wrap="square">
            <a:spAutoFit/>
          </a:bodyPr>
          <a:lstStyle/>
          <a:p>
            <a:pPr>
              <a:spcAft>
                <a:spcPts val="800"/>
              </a:spcAft>
            </a:pPr>
            <a:r>
              <a:rPr sz="1500">
                <a:solidFill>
                  <a:srgbClr val="1C2B27"/>
                </a:solidFill>
                <a:latin typeface="Calibri"/>
              </a:rPr>
              <a:t>•  Agences telecoms : 90 (Togocom 62, Moov 28).</a:t>
            </a:r>
          </a:p>
          <a:p>
            <a:pPr>
              <a:spcAft>
                <a:spcPts val="800"/>
              </a:spcAft>
            </a:pPr>
            <a:r>
              <a:rPr sz="1500">
                <a:solidFill>
                  <a:srgbClr val="1C2B27"/>
                </a:solidFill>
                <a:latin typeface="Calibri"/>
              </a:rPr>
              <a:t>•  Agents mobile money : 19 788 points geolocalises.</a:t>
            </a:r>
          </a:p>
          <a:p>
            <a:pPr>
              <a:spcAft>
                <a:spcPts val="800"/>
              </a:spcAft>
            </a:pPr>
            <a:r>
              <a:rPr sz="1500">
                <a:solidFill>
                  <a:srgbClr val="1C2B27"/>
                </a:solidFill>
                <a:latin typeface="Calibri"/>
              </a:rPr>
              <a:t>•  Datacenters : 3 etablissements.</a:t>
            </a:r>
          </a:p>
          <a:p>
            <a:pPr>
              <a:spcAft>
                <a:spcPts val="800"/>
              </a:spcAft>
            </a:pPr>
            <a:r>
              <a:rPr sz="1500">
                <a:solidFill>
                  <a:srgbClr val="1C2B27"/>
                </a:solidFill>
                <a:latin typeface="Calibri"/>
              </a:rPr>
              <a:t>•  Population RGPH-5 2022 (pays → canton).</a:t>
            </a:r>
          </a:p>
          <a:p>
            <a:pPr>
              <a:spcAft>
                <a:spcPts val="800"/>
              </a:spcAft>
            </a:pPr>
            <a:r>
              <a:rPr sz="1500">
                <a:solidFill>
                  <a:srgbClr val="1C2B27"/>
                </a:solidFill>
                <a:latin typeface="Calibri"/>
              </a:rPr>
              <a:t>•  Limites administratives geoBoundaries (adm1/2/3).</a:t>
            </a:r>
          </a:p>
        </p:txBody>
      </p:sp>
      <p:sp>
        <p:nvSpPr>
          <p:cNvPr id="10" name="TextBox 9"/>
          <p:cNvSpPr txBox="1"/>
          <p:nvPr/>
        </p:nvSpPr>
        <p:spPr>
          <a:xfrm>
            <a:off x="6309360" y="1188720"/>
            <a:ext cx="5486400" cy="365760"/>
          </a:xfrm>
          <a:prstGeom prst="rect">
            <a:avLst/>
          </a:prstGeom>
          <a:noFill/>
        </p:spPr>
        <p:txBody>
          <a:bodyPr wrap="square" anchor="t">
            <a:spAutoFit/>
          </a:bodyPr>
          <a:lstStyle/>
          <a:p>
            <a:pPr algn="l"/>
            <a:r>
              <a:rPr sz="1800" b="1" i="0">
                <a:solidFill>
                  <a:srgbClr val="D21034"/>
                </a:solidFill>
                <a:latin typeface="Calibri"/>
              </a:rPr>
              <a:t>Traitements</a:t>
            </a:r>
          </a:p>
        </p:txBody>
      </p:sp>
      <p:sp>
        <p:nvSpPr>
          <p:cNvPr id="11" name="TextBox 10"/>
          <p:cNvSpPr txBox="1"/>
          <p:nvPr/>
        </p:nvSpPr>
        <p:spPr>
          <a:xfrm>
            <a:off x="6400800" y="1645920"/>
            <a:ext cx="5486400" cy="3657600"/>
          </a:xfrm>
          <a:prstGeom prst="rect">
            <a:avLst/>
          </a:prstGeom>
          <a:noFill/>
        </p:spPr>
        <p:txBody>
          <a:bodyPr wrap="square">
            <a:spAutoFit/>
          </a:bodyPr>
          <a:lstStyle/>
          <a:p>
            <a:pPr>
              <a:spcAft>
                <a:spcPts val="800"/>
              </a:spcAft>
            </a:pPr>
            <a:r>
              <a:rPr sz="1500">
                <a:solidFill>
                  <a:srgbClr val="1C2B27"/>
                </a:solidFill>
                <a:latin typeface="Calibri"/>
              </a:rPr>
              <a:t>•  Nettoyage : coordonnees, libelles normalises, annees.</a:t>
            </a:r>
          </a:p>
          <a:p>
            <a:pPr>
              <a:spcAft>
                <a:spcPts val="800"/>
              </a:spcAft>
            </a:pPr>
            <a:r>
              <a:rPr sz="1500">
                <a:solidFill>
                  <a:srgbClr val="1C2B27"/>
                </a:solidFill>
                <a:latin typeface="Calibri"/>
              </a:rPr>
              <a:t>•  Reconstruction de la hierarchie de population (validee par les sommes).</a:t>
            </a:r>
          </a:p>
          <a:p>
            <a:pPr>
              <a:spcAft>
                <a:spcPts val="800"/>
              </a:spcAft>
            </a:pPr>
            <a:r>
              <a:rPr sz="1500">
                <a:solidFill>
                  <a:srgbClr val="1C2B27"/>
                </a:solidFill>
                <a:latin typeface="Calibri"/>
              </a:rPr>
              <a:t>•  Projection demographique 2026 (taux 2,3 %/an).</a:t>
            </a:r>
          </a:p>
          <a:p>
            <a:pPr>
              <a:spcAft>
                <a:spcPts val="800"/>
              </a:spcAft>
            </a:pPr>
            <a:r>
              <a:rPr sz="1500">
                <a:solidFill>
                  <a:srgbClr val="1C2B27"/>
                </a:solidFill>
                <a:latin typeface="Calibri"/>
              </a:rPr>
              <a:t>•  Indicateurs de densite, concentration, correlation.</a:t>
            </a:r>
          </a:p>
          <a:p>
            <a:pPr>
              <a:spcAft>
                <a:spcPts val="800"/>
              </a:spcAft>
            </a:pPr>
            <a:r>
              <a:rPr sz="1500">
                <a:solidFill>
                  <a:srgbClr val="1C2B27"/>
                </a:solidFill>
                <a:latin typeface="Calibri"/>
              </a:rPr>
              <a:t>•  Pre-agregation en .parquet → chargement rapide.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4876678" cy="11887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914400"/>
            <a:ext cx="2682172" cy="118872"/>
          </a:xfrm>
          <a:prstGeom prst="rect">
            <a:avLst/>
          </a:prstGeom>
          <a:solidFill>
            <a:srgbClr val="FFC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58850" y="914400"/>
            <a:ext cx="4632844" cy="118872"/>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
            <a:ext cx="10515600" cy="731520"/>
          </a:xfrm>
          <a:prstGeom prst="rect">
            <a:avLst/>
          </a:prstGeom>
          <a:noFill/>
        </p:spPr>
        <p:txBody>
          <a:bodyPr wrap="square" anchor="ctr">
            <a:spAutoFit/>
          </a:bodyPr>
          <a:lstStyle/>
          <a:p>
            <a:pPr algn="l"/>
            <a:r>
              <a:rPr sz="2600" b="1" i="0">
                <a:solidFill>
                  <a:srgbClr val="FFFFFF"/>
                </a:solidFill>
                <a:latin typeface="Calibri"/>
              </a:rPr>
              <a:t>L'offre numerique et sa repartition</a:t>
            </a:r>
          </a:p>
        </p:txBody>
      </p:sp>
      <p:sp>
        <p:nvSpPr>
          <p:cNvPr id="7" name="TextBox 6"/>
          <p:cNvSpPr txBox="1"/>
          <p:nvPr/>
        </p:nvSpPr>
        <p:spPr>
          <a:xfrm>
            <a:off x="11155680" y="109728"/>
            <a:ext cx="822960" cy="731520"/>
          </a:xfrm>
          <a:prstGeom prst="rect">
            <a:avLst/>
          </a:prstGeom>
          <a:noFill/>
        </p:spPr>
        <p:txBody>
          <a:bodyPr wrap="square" anchor="ctr">
            <a:spAutoFit/>
          </a:bodyPr>
          <a:lstStyle/>
          <a:p>
            <a:pPr algn="r"/>
            <a:r>
              <a:rPr sz="1400" b="1" i="0">
                <a:solidFill>
                  <a:srgbClr val="FFCE00"/>
                </a:solidFill>
                <a:latin typeface="Calibri"/>
              </a:rPr>
              <a:t>4/10</a:t>
            </a:r>
          </a:p>
        </p:txBody>
      </p:sp>
      <p:pic>
        <p:nvPicPr>
          <p:cNvPr id="8" name="Picture 7" descr="fig_mm_region.png"/>
          <p:cNvPicPr>
            <a:picLocks noChangeAspect="1"/>
          </p:cNvPicPr>
          <p:nvPr/>
        </p:nvPicPr>
        <p:blipFill>
          <a:blip r:embed="rId2"/>
          <a:stretch>
            <a:fillRect/>
          </a:stretch>
        </p:blipFill>
        <p:spPr>
          <a:xfrm>
            <a:off x="365760" y="1371600"/>
            <a:ext cx="6035040" cy="3045779"/>
          </a:xfrm>
          <a:prstGeom prst="rect">
            <a:avLst/>
          </a:prstGeom>
        </p:spPr>
      </p:pic>
      <p:pic>
        <p:nvPicPr>
          <p:cNvPr id="9" name="Picture 8" descr="fig_operateurs.png"/>
          <p:cNvPicPr>
            <a:picLocks noChangeAspect="1"/>
          </p:cNvPicPr>
          <p:nvPr/>
        </p:nvPicPr>
        <p:blipFill>
          <a:blip r:embed="rId3"/>
          <a:stretch>
            <a:fillRect/>
          </a:stretch>
        </p:blipFill>
        <p:spPr>
          <a:xfrm>
            <a:off x="6766560" y="1371600"/>
            <a:ext cx="4028255" cy="3291840"/>
          </a:xfrm>
          <a:prstGeom prst="rect">
            <a:avLst/>
          </a:prstGeom>
        </p:spPr>
      </p:pic>
      <p:sp>
        <p:nvSpPr>
          <p:cNvPr id="10" name="TextBox 9"/>
          <p:cNvSpPr txBox="1"/>
          <p:nvPr/>
        </p:nvSpPr>
        <p:spPr>
          <a:xfrm>
            <a:off x="457200" y="5029200"/>
            <a:ext cx="11247120" cy="1463040"/>
          </a:xfrm>
          <a:prstGeom prst="rect">
            <a:avLst/>
          </a:prstGeom>
          <a:noFill/>
        </p:spPr>
        <p:txBody>
          <a:bodyPr wrap="square" anchor="t">
            <a:spAutoFit/>
          </a:bodyPr>
          <a:lstStyle/>
          <a:p>
            <a:pPr algn="l"/>
            <a:r>
              <a:rPr sz="1500" b="0" i="0">
                <a:solidFill>
                  <a:srgbClr val="1C2B27"/>
                </a:solidFill>
                <a:latin typeface="Calibri"/>
              </a:rPr>
              <a:t>Densite nationale : 2,23 agents mobile money pour 1 000 hab. et 1,02 agence pour 100 000 hab. La region Maritime domine ; Togocom porte l'essentiel du reseau d'agences. Les 3 datacenters sont tous situes dans le Grand Lome.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4876678" cy="11887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914400"/>
            <a:ext cx="2682172" cy="118872"/>
          </a:xfrm>
          <a:prstGeom prst="rect">
            <a:avLst/>
          </a:prstGeom>
          <a:solidFill>
            <a:srgbClr val="FFC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58850" y="914400"/>
            <a:ext cx="4632844" cy="118872"/>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
            <a:ext cx="10515600" cy="731520"/>
          </a:xfrm>
          <a:prstGeom prst="rect">
            <a:avLst/>
          </a:prstGeom>
          <a:noFill/>
        </p:spPr>
        <p:txBody>
          <a:bodyPr wrap="square" anchor="ctr">
            <a:spAutoFit/>
          </a:bodyPr>
          <a:lstStyle/>
          <a:p>
            <a:pPr algn="l"/>
            <a:r>
              <a:rPr sz="2600" b="1" i="0">
                <a:solidFill>
                  <a:srgbClr val="FFFFFF"/>
                </a:solidFill>
                <a:latin typeface="Calibri"/>
              </a:rPr>
              <a:t>De fortes inegalites territoriales</a:t>
            </a:r>
          </a:p>
        </p:txBody>
      </p:sp>
      <p:sp>
        <p:nvSpPr>
          <p:cNvPr id="7" name="TextBox 6"/>
          <p:cNvSpPr txBox="1"/>
          <p:nvPr/>
        </p:nvSpPr>
        <p:spPr>
          <a:xfrm>
            <a:off x="11155680" y="109728"/>
            <a:ext cx="822960" cy="731520"/>
          </a:xfrm>
          <a:prstGeom prst="rect">
            <a:avLst/>
          </a:prstGeom>
          <a:noFill/>
        </p:spPr>
        <p:txBody>
          <a:bodyPr wrap="square" anchor="ctr">
            <a:spAutoFit/>
          </a:bodyPr>
          <a:lstStyle/>
          <a:p>
            <a:pPr algn="r"/>
            <a:r>
              <a:rPr sz="1400" b="1" i="0">
                <a:solidFill>
                  <a:srgbClr val="FFCE00"/>
                </a:solidFill>
                <a:latin typeface="Calibri"/>
              </a:rPr>
              <a:t>5/10</a:t>
            </a:r>
          </a:p>
        </p:txBody>
      </p:sp>
      <p:pic>
        <p:nvPicPr>
          <p:cNvPr id="8" name="Picture 7" descr="fig_densite.png"/>
          <p:cNvPicPr>
            <a:picLocks noChangeAspect="1"/>
          </p:cNvPicPr>
          <p:nvPr/>
        </p:nvPicPr>
        <p:blipFill>
          <a:blip r:embed="rId2"/>
          <a:stretch>
            <a:fillRect/>
          </a:stretch>
        </p:blipFill>
        <p:spPr>
          <a:xfrm>
            <a:off x="320040" y="1371600"/>
            <a:ext cx="6949440" cy="2867770"/>
          </a:xfrm>
          <a:prstGeom prst="rect">
            <a:avLst/>
          </a:prstGeom>
        </p:spPr>
      </p:pic>
      <p:sp>
        <p:nvSpPr>
          <p:cNvPr id="9" name="Rectangle 8"/>
          <p:cNvSpPr/>
          <p:nvPr/>
        </p:nvSpPr>
        <p:spPr>
          <a:xfrm>
            <a:off x="7498079" y="1463040"/>
            <a:ext cx="4389120" cy="4206240"/>
          </a:xfrm>
          <a:prstGeom prst="rect">
            <a:avLst/>
          </a:prstGeom>
          <a:solidFill>
            <a:srgbClr val="F3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0" y="1600200"/>
            <a:ext cx="4114800" cy="457200"/>
          </a:xfrm>
          <a:prstGeom prst="rect">
            <a:avLst/>
          </a:prstGeom>
          <a:noFill/>
        </p:spPr>
        <p:txBody>
          <a:bodyPr wrap="square" anchor="t">
            <a:spAutoFit/>
          </a:bodyPr>
          <a:lstStyle/>
          <a:p>
            <a:pPr algn="l"/>
            <a:r>
              <a:rPr sz="1700" b="1" i="0">
                <a:solidFill>
                  <a:srgbClr val="0B6E4F"/>
                </a:solidFill>
                <a:latin typeface="Calibri"/>
              </a:rPr>
              <a:t>Chiffres cles</a:t>
            </a:r>
          </a:p>
        </p:txBody>
      </p:sp>
      <p:sp>
        <p:nvSpPr>
          <p:cNvPr id="11" name="TextBox 10"/>
          <p:cNvSpPr txBox="1"/>
          <p:nvPr/>
        </p:nvSpPr>
        <p:spPr>
          <a:xfrm>
            <a:off x="7680960" y="2148840"/>
            <a:ext cx="4114800" cy="3474720"/>
          </a:xfrm>
          <a:prstGeom prst="rect">
            <a:avLst/>
          </a:prstGeom>
          <a:noFill/>
        </p:spPr>
        <p:txBody>
          <a:bodyPr wrap="square">
            <a:spAutoFit/>
          </a:bodyPr>
          <a:lstStyle/>
          <a:p>
            <a:pPr>
              <a:spcAft>
                <a:spcPts val="800"/>
              </a:spcAft>
            </a:pPr>
            <a:r>
              <a:rPr sz="1500">
                <a:solidFill>
                  <a:srgbClr val="1C2B27"/>
                </a:solidFill>
                <a:latin typeface="Calibri"/>
              </a:rPr>
              <a:t>•  Densite de 0,42 a 5,36 /1000 hab.</a:t>
            </a:r>
          </a:p>
          <a:p>
            <a:pPr>
              <a:spcAft>
                <a:spcPts val="800"/>
              </a:spcAft>
            </a:pPr>
            <a:r>
              <a:rPr sz="1500">
                <a:solidFill>
                  <a:srgbClr val="1C2B27"/>
                </a:solidFill>
                <a:latin typeface="Calibri"/>
              </a:rPr>
              <a:t>•  Rapport de 1 a 12,8 entre extremes.</a:t>
            </a:r>
          </a:p>
          <a:p>
            <a:pPr>
              <a:spcAft>
                <a:spcPts val="800"/>
              </a:spcAft>
            </a:pPr>
            <a:r>
              <a:rPr sz="1500">
                <a:solidFill>
                  <a:srgbClr val="1C2B27"/>
                </a:solidFill>
                <a:latin typeface="Calibri"/>
              </a:rPr>
              <a:t>•  Moyenne 1,98 · mediane 1,52.</a:t>
            </a:r>
          </a:p>
          <a:p>
            <a:pPr>
              <a:spcAft>
                <a:spcPts val="800"/>
              </a:spcAft>
            </a:pPr>
            <a:r>
              <a:rPr sz="1500">
                <a:solidFill>
                  <a:srgbClr val="1C2B27"/>
                </a:solidFill>
                <a:latin typeface="Calibri"/>
              </a:rPr>
              <a:t>•  Coefficient de variation : 60,6 %.</a:t>
            </a:r>
          </a:p>
          <a:p>
            <a:pPr>
              <a:spcAft>
                <a:spcPts val="800"/>
              </a:spcAft>
            </a:pPr>
            <a:r>
              <a:rPr sz="1500">
                <a:solidFill>
                  <a:srgbClr val="1C2B27"/>
                </a:solidFill>
                <a:latin typeface="Calibri"/>
              </a:rPr>
              <a:t>•  Correlation pop / agents : r = 0,90.</a:t>
            </a:r>
          </a:p>
        </p:txBody>
      </p:sp>
      <p:sp>
        <p:nvSpPr>
          <p:cNvPr id="12" name="TextBox 11"/>
          <p:cNvSpPr txBox="1"/>
          <p:nvPr/>
        </p:nvSpPr>
        <p:spPr>
          <a:xfrm>
            <a:off x="457200" y="6035040"/>
            <a:ext cx="10972800" cy="548640"/>
          </a:xfrm>
          <a:prstGeom prst="rect">
            <a:avLst/>
          </a:prstGeom>
          <a:noFill/>
        </p:spPr>
        <p:txBody>
          <a:bodyPr wrap="square" anchor="t">
            <a:spAutoFit/>
          </a:bodyPr>
          <a:lstStyle/>
          <a:p>
            <a:pPr algn="l"/>
            <a:r>
              <a:rPr sz="1300" b="0" i="1">
                <a:solidFill>
                  <a:srgbClr val="6B7B76"/>
                </a:solidFill>
                <a:latin typeface="Calibri"/>
              </a:rPr>
              <a:t>L'offre suit la demographie mais laisse subsister d'importants sous-equipements relatifs.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4876678" cy="11887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914400"/>
            <a:ext cx="2682172" cy="118872"/>
          </a:xfrm>
          <a:prstGeom prst="rect">
            <a:avLst/>
          </a:prstGeom>
          <a:solidFill>
            <a:srgbClr val="FFC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58850" y="914400"/>
            <a:ext cx="4632844" cy="118872"/>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
            <a:ext cx="10515600" cy="731520"/>
          </a:xfrm>
          <a:prstGeom prst="rect">
            <a:avLst/>
          </a:prstGeom>
          <a:noFill/>
        </p:spPr>
        <p:txBody>
          <a:bodyPr wrap="square" anchor="ctr">
            <a:spAutoFit/>
          </a:bodyPr>
          <a:lstStyle/>
          <a:p>
            <a:pPr algn="l"/>
            <a:r>
              <a:rPr sz="2600" b="1" i="0">
                <a:solidFill>
                  <a:srgbClr val="FFFFFF"/>
                </a:solidFill>
                <a:latin typeface="Calibri"/>
              </a:rPr>
              <a:t>Concentration &amp; zones blanches</a:t>
            </a:r>
          </a:p>
        </p:txBody>
      </p:sp>
      <p:sp>
        <p:nvSpPr>
          <p:cNvPr id="7" name="TextBox 6"/>
          <p:cNvSpPr txBox="1"/>
          <p:nvPr/>
        </p:nvSpPr>
        <p:spPr>
          <a:xfrm>
            <a:off x="11155680" y="109728"/>
            <a:ext cx="822960" cy="731520"/>
          </a:xfrm>
          <a:prstGeom prst="rect">
            <a:avLst/>
          </a:prstGeom>
          <a:noFill/>
        </p:spPr>
        <p:txBody>
          <a:bodyPr wrap="square" anchor="ctr">
            <a:spAutoFit/>
          </a:bodyPr>
          <a:lstStyle/>
          <a:p>
            <a:pPr algn="r"/>
            <a:r>
              <a:rPr sz="1400" b="1" i="0">
                <a:solidFill>
                  <a:srgbClr val="FFCE00"/>
                </a:solidFill>
                <a:latin typeface="Calibri"/>
              </a:rPr>
              <a:t>6/10</a:t>
            </a:r>
          </a:p>
        </p:txBody>
      </p:sp>
      <p:pic>
        <p:nvPicPr>
          <p:cNvPr id="8" name="Picture 7" descr="fig_zones_blanches.png"/>
          <p:cNvPicPr>
            <a:picLocks noChangeAspect="1"/>
          </p:cNvPicPr>
          <p:nvPr/>
        </p:nvPicPr>
        <p:blipFill>
          <a:blip r:embed="rId2"/>
          <a:stretch>
            <a:fillRect/>
          </a:stretch>
        </p:blipFill>
        <p:spPr>
          <a:xfrm>
            <a:off x="365760" y="1371600"/>
            <a:ext cx="6217920" cy="3138076"/>
          </a:xfrm>
          <a:prstGeom prst="rect">
            <a:avLst/>
          </a:prstGeom>
        </p:spPr>
      </p:pic>
      <p:sp>
        <p:nvSpPr>
          <p:cNvPr id="9" name="Rectangle 8"/>
          <p:cNvSpPr/>
          <p:nvPr/>
        </p:nvSpPr>
        <p:spPr>
          <a:xfrm>
            <a:off x="6949440" y="1554480"/>
            <a:ext cx="2286000" cy="1143000"/>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0" y="1664208"/>
            <a:ext cx="2286000" cy="548640"/>
          </a:xfrm>
          <a:prstGeom prst="rect">
            <a:avLst/>
          </a:prstGeom>
          <a:noFill/>
        </p:spPr>
        <p:txBody>
          <a:bodyPr wrap="square" anchor="ctr">
            <a:spAutoFit/>
          </a:bodyPr>
          <a:lstStyle/>
          <a:p>
            <a:pPr algn="ctr"/>
            <a:r>
              <a:rPr sz="3000" b="1" i="0">
                <a:solidFill>
                  <a:srgbClr val="FFFFFF"/>
                </a:solidFill>
                <a:latin typeface="Calibri"/>
              </a:rPr>
              <a:t>25,9 %</a:t>
            </a:r>
          </a:p>
        </p:txBody>
      </p:sp>
      <p:sp>
        <p:nvSpPr>
          <p:cNvPr id="11" name="TextBox 10"/>
          <p:cNvSpPr txBox="1"/>
          <p:nvPr/>
        </p:nvSpPr>
        <p:spPr>
          <a:xfrm>
            <a:off x="6949440" y="2212848"/>
            <a:ext cx="2286000" cy="457200"/>
          </a:xfrm>
          <a:prstGeom prst="rect">
            <a:avLst/>
          </a:prstGeom>
          <a:noFill/>
        </p:spPr>
        <p:txBody>
          <a:bodyPr wrap="square" anchor="ctr">
            <a:spAutoFit/>
          </a:bodyPr>
          <a:lstStyle/>
          <a:p>
            <a:pPr algn="ctr"/>
            <a:r>
              <a:rPr sz="1200" b="0" i="0">
                <a:solidFill>
                  <a:srgbClr val="FFFFFF"/>
                </a:solidFill>
                <a:latin typeface="Calibri"/>
              </a:rPr>
              <a:t>Agents dans le Golfe</a:t>
            </a:r>
          </a:p>
        </p:txBody>
      </p:sp>
      <p:sp>
        <p:nvSpPr>
          <p:cNvPr id="12" name="Rectangle 11"/>
          <p:cNvSpPr/>
          <p:nvPr/>
        </p:nvSpPr>
        <p:spPr>
          <a:xfrm>
            <a:off x="9418320" y="1554480"/>
            <a:ext cx="2286000" cy="1143000"/>
          </a:xfrm>
          <a:prstGeom prst="rect">
            <a:avLst/>
          </a:prstGeom>
          <a:solidFill>
            <a:srgbClr val="6B7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0" y="1664208"/>
            <a:ext cx="2286000" cy="548640"/>
          </a:xfrm>
          <a:prstGeom prst="rect">
            <a:avLst/>
          </a:prstGeom>
          <a:noFill/>
        </p:spPr>
        <p:txBody>
          <a:bodyPr wrap="square" anchor="ctr">
            <a:spAutoFit/>
          </a:bodyPr>
          <a:lstStyle/>
          <a:p>
            <a:pPr algn="ctr"/>
            <a:r>
              <a:rPr sz="3000" b="1" i="0">
                <a:solidFill>
                  <a:srgbClr val="FFFFFF"/>
                </a:solidFill>
                <a:latin typeface="Calibri"/>
              </a:rPr>
              <a:t>54,4 %</a:t>
            </a:r>
          </a:p>
        </p:txBody>
      </p:sp>
      <p:sp>
        <p:nvSpPr>
          <p:cNvPr id="14" name="TextBox 13"/>
          <p:cNvSpPr txBox="1"/>
          <p:nvPr/>
        </p:nvSpPr>
        <p:spPr>
          <a:xfrm>
            <a:off x="9418320" y="2212848"/>
            <a:ext cx="2286000" cy="457200"/>
          </a:xfrm>
          <a:prstGeom prst="rect">
            <a:avLst/>
          </a:prstGeom>
          <a:noFill/>
        </p:spPr>
        <p:txBody>
          <a:bodyPr wrap="square" anchor="ctr">
            <a:spAutoFit/>
          </a:bodyPr>
          <a:lstStyle/>
          <a:p>
            <a:pPr algn="ctr"/>
            <a:r>
              <a:rPr sz="1200" b="0" i="0">
                <a:solidFill>
                  <a:srgbClr val="FFFFFF"/>
                </a:solidFill>
                <a:latin typeface="Calibri"/>
              </a:rPr>
              <a:t>Agents top-5 prefectures</a:t>
            </a:r>
          </a:p>
        </p:txBody>
      </p:sp>
      <p:sp>
        <p:nvSpPr>
          <p:cNvPr id="15" name="Rectangle 14"/>
          <p:cNvSpPr/>
          <p:nvPr/>
        </p:nvSpPr>
        <p:spPr>
          <a:xfrm>
            <a:off x="6949440" y="2926080"/>
            <a:ext cx="2286000" cy="1143000"/>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3035808"/>
            <a:ext cx="2286000" cy="548640"/>
          </a:xfrm>
          <a:prstGeom prst="rect">
            <a:avLst/>
          </a:prstGeom>
          <a:noFill/>
        </p:spPr>
        <p:txBody>
          <a:bodyPr wrap="square" anchor="ctr">
            <a:spAutoFit/>
          </a:bodyPr>
          <a:lstStyle/>
          <a:p>
            <a:pPr algn="ctr"/>
            <a:r>
              <a:rPr sz="3000" b="1" i="0">
                <a:solidFill>
                  <a:srgbClr val="FFFFFF"/>
                </a:solidFill>
                <a:latin typeface="Calibri"/>
              </a:rPr>
              <a:t>78</a:t>
            </a:r>
          </a:p>
        </p:txBody>
      </p:sp>
      <p:sp>
        <p:nvSpPr>
          <p:cNvPr id="17" name="TextBox 16"/>
          <p:cNvSpPr txBox="1"/>
          <p:nvPr/>
        </p:nvSpPr>
        <p:spPr>
          <a:xfrm>
            <a:off x="6949440" y="3584448"/>
            <a:ext cx="2286000" cy="457200"/>
          </a:xfrm>
          <a:prstGeom prst="rect">
            <a:avLst/>
          </a:prstGeom>
          <a:noFill/>
        </p:spPr>
        <p:txBody>
          <a:bodyPr wrap="square" anchor="ctr">
            <a:spAutoFit/>
          </a:bodyPr>
          <a:lstStyle/>
          <a:p>
            <a:pPr algn="ctr"/>
            <a:r>
              <a:rPr sz="1200" b="0" i="0">
                <a:solidFill>
                  <a:srgbClr val="FFFFFF"/>
                </a:solidFill>
                <a:latin typeface="Calibri"/>
              </a:rPr>
              <a:t>Cantons sans agent</a:t>
            </a:r>
          </a:p>
        </p:txBody>
      </p:sp>
      <p:sp>
        <p:nvSpPr>
          <p:cNvPr id="18" name="Rectangle 17"/>
          <p:cNvSpPr/>
          <p:nvPr/>
        </p:nvSpPr>
        <p:spPr>
          <a:xfrm>
            <a:off x="9418320" y="2926080"/>
            <a:ext cx="2286000" cy="11430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0" y="3035808"/>
            <a:ext cx="2286000" cy="548640"/>
          </a:xfrm>
          <a:prstGeom prst="rect">
            <a:avLst/>
          </a:prstGeom>
          <a:noFill/>
        </p:spPr>
        <p:txBody>
          <a:bodyPr wrap="square" anchor="ctr">
            <a:spAutoFit/>
          </a:bodyPr>
          <a:lstStyle/>
          <a:p>
            <a:pPr algn="ctr"/>
            <a:r>
              <a:rPr sz="3000" b="1" i="0">
                <a:solidFill>
                  <a:srgbClr val="FFFFFF"/>
                </a:solidFill>
                <a:latin typeface="Calibri"/>
              </a:rPr>
              <a:t>79,1 %</a:t>
            </a:r>
          </a:p>
        </p:txBody>
      </p:sp>
      <p:sp>
        <p:nvSpPr>
          <p:cNvPr id="20" name="TextBox 19"/>
          <p:cNvSpPr txBox="1"/>
          <p:nvPr/>
        </p:nvSpPr>
        <p:spPr>
          <a:xfrm>
            <a:off x="9418320" y="3584448"/>
            <a:ext cx="2286000" cy="457200"/>
          </a:xfrm>
          <a:prstGeom prst="rect">
            <a:avLst/>
          </a:prstGeom>
          <a:noFill/>
        </p:spPr>
        <p:txBody>
          <a:bodyPr wrap="square" anchor="ctr">
            <a:spAutoFit/>
          </a:bodyPr>
          <a:lstStyle/>
          <a:p>
            <a:pPr algn="ctr"/>
            <a:r>
              <a:rPr sz="1200" b="0" i="0">
                <a:solidFill>
                  <a:srgbClr val="FFFFFF"/>
                </a:solidFill>
                <a:latin typeface="Calibri"/>
              </a:rPr>
              <a:t>Taux de couverture</a:t>
            </a:r>
          </a:p>
        </p:txBody>
      </p:sp>
      <p:sp>
        <p:nvSpPr>
          <p:cNvPr id="21" name="TextBox 20"/>
          <p:cNvSpPr txBox="1"/>
          <p:nvPr/>
        </p:nvSpPr>
        <p:spPr>
          <a:xfrm>
            <a:off x="6949440" y="4389120"/>
            <a:ext cx="4937760" cy="1828800"/>
          </a:xfrm>
          <a:prstGeom prst="rect">
            <a:avLst/>
          </a:prstGeom>
          <a:noFill/>
        </p:spPr>
        <p:txBody>
          <a:bodyPr wrap="square">
            <a:spAutoFit/>
          </a:bodyPr>
          <a:lstStyle/>
          <a:p>
            <a:pPr>
              <a:spcAft>
                <a:spcPts val="800"/>
              </a:spcAft>
            </a:pPr>
            <a:r>
              <a:rPr sz="1400">
                <a:solidFill>
                  <a:srgbClr val="1C2B27"/>
                </a:solidFill>
                <a:latin typeface="Calibri"/>
              </a:rPr>
              <a:t>•  12 prefectures sur 39 sans agence telecom.</a:t>
            </a:r>
          </a:p>
          <a:p>
            <a:pPr>
              <a:spcAft>
                <a:spcPts val="800"/>
              </a:spcAft>
            </a:pPr>
            <a:r>
              <a:rPr sz="1400">
                <a:solidFill>
                  <a:srgbClr val="1C2B27"/>
                </a:solidFill>
                <a:latin typeface="Calibri"/>
              </a:rPr>
              <a:t>•  Datacenters 100 % concentres a Lome.</a:t>
            </a:r>
          </a:p>
          <a:p>
            <a:pPr>
              <a:spcAft>
                <a:spcPts val="800"/>
              </a:spcAft>
            </a:pPr>
            <a:r>
              <a:rPr sz="1400">
                <a:solidFill>
                  <a:srgbClr val="1C2B27"/>
                </a:solidFill>
                <a:latin typeface="Calibri"/>
              </a:rPr>
              <a:t>•  Zones blanches : Plateaux, Centrale, Kara.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4876678" cy="11887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914400"/>
            <a:ext cx="2682172" cy="118872"/>
          </a:xfrm>
          <a:prstGeom prst="rect">
            <a:avLst/>
          </a:prstGeom>
          <a:solidFill>
            <a:srgbClr val="FFC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58850" y="914400"/>
            <a:ext cx="4632844" cy="118872"/>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
            <a:ext cx="10515600" cy="731520"/>
          </a:xfrm>
          <a:prstGeom prst="rect">
            <a:avLst/>
          </a:prstGeom>
          <a:noFill/>
        </p:spPr>
        <p:txBody>
          <a:bodyPr wrap="square" anchor="ctr">
            <a:spAutoFit/>
          </a:bodyPr>
          <a:lstStyle/>
          <a:p>
            <a:pPr algn="l"/>
            <a:r>
              <a:rPr sz="2600" b="1" i="0">
                <a:solidFill>
                  <a:srgbClr val="FFFFFF"/>
                </a:solidFill>
                <a:latin typeface="Calibri"/>
              </a:rPr>
              <a:t>Priorisation territoriale</a:t>
            </a:r>
          </a:p>
        </p:txBody>
      </p:sp>
      <p:sp>
        <p:nvSpPr>
          <p:cNvPr id="7" name="TextBox 6"/>
          <p:cNvSpPr txBox="1"/>
          <p:nvPr/>
        </p:nvSpPr>
        <p:spPr>
          <a:xfrm>
            <a:off x="11155680" y="109728"/>
            <a:ext cx="822960" cy="731520"/>
          </a:xfrm>
          <a:prstGeom prst="rect">
            <a:avLst/>
          </a:prstGeom>
          <a:noFill/>
        </p:spPr>
        <p:txBody>
          <a:bodyPr wrap="square" anchor="ctr">
            <a:spAutoFit/>
          </a:bodyPr>
          <a:lstStyle/>
          <a:p>
            <a:pPr algn="r"/>
            <a:r>
              <a:rPr sz="1400" b="1" i="0">
                <a:solidFill>
                  <a:srgbClr val="FFCE00"/>
                </a:solidFill>
                <a:latin typeface="Calibri"/>
              </a:rPr>
              <a:t>7/10</a:t>
            </a:r>
          </a:p>
        </p:txBody>
      </p:sp>
      <p:pic>
        <p:nvPicPr>
          <p:cNvPr id="8" name="Picture 7" descr="fig_priorites.png"/>
          <p:cNvPicPr>
            <a:picLocks noChangeAspect="1"/>
          </p:cNvPicPr>
          <p:nvPr/>
        </p:nvPicPr>
        <p:blipFill>
          <a:blip r:embed="rId2"/>
          <a:stretch>
            <a:fillRect/>
          </a:stretch>
        </p:blipFill>
        <p:spPr>
          <a:xfrm>
            <a:off x="365760" y="1371600"/>
            <a:ext cx="6583680" cy="3960346"/>
          </a:xfrm>
          <a:prstGeom prst="rect">
            <a:avLst/>
          </a:prstGeom>
        </p:spPr>
      </p:pic>
      <p:sp>
        <p:nvSpPr>
          <p:cNvPr id="9" name="TextBox 8"/>
          <p:cNvSpPr txBox="1"/>
          <p:nvPr/>
        </p:nvSpPr>
        <p:spPr>
          <a:xfrm>
            <a:off x="7223760" y="1417320"/>
            <a:ext cx="4663440" cy="822960"/>
          </a:xfrm>
          <a:prstGeom prst="rect">
            <a:avLst/>
          </a:prstGeom>
          <a:noFill/>
        </p:spPr>
        <p:txBody>
          <a:bodyPr wrap="square" anchor="t">
            <a:spAutoFit/>
          </a:bodyPr>
          <a:lstStyle/>
          <a:p>
            <a:pPr algn="l"/>
            <a:r>
              <a:rPr sz="1600" b="1" i="0">
                <a:solidFill>
                  <a:srgbClr val="D21034"/>
                </a:solidFill>
                <a:latin typeface="Calibri"/>
              </a:rPr>
              <a:t>Score de priorite (0-100)</a:t>
            </a:r>
          </a:p>
        </p:txBody>
      </p:sp>
      <p:sp>
        <p:nvSpPr>
          <p:cNvPr id="10" name="TextBox 9"/>
          <p:cNvSpPr txBox="1"/>
          <p:nvPr/>
        </p:nvSpPr>
        <p:spPr>
          <a:xfrm>
            <a:off x="7223760" y="2057400"/>
            <a:ext cx="4663440" cy="1463040"/>
          </a:xfrm>
          <a:prstGeom prst="rect">
            <a:avLst/>
          </a:prstGeom>
          <a:noFill/>
        </p:spPr>
        <p:txBody>
          <a:bodyPr wrap="square" anchor="t">
            <a:spAutoFit/>
          </a:bodyPr>
          <a:lstStyle/>
          <a:p>
            <a:pPr algn="l"/>
            <a:r>
              <a:rPr sz="1400" b="0" i="0">
                <a:solidFill>
                  <a:srgbClr val="1C2B27"/>
                </a:solidFill>
                <a:latin typeface="Calibri"/>
              </a:rPr>
              <a:t>Indicateur composite : deficit de densite mobile money (45 %), deficit de densite d'agences (35 %) et poids demographique (20 %).</a:t>
            </a:r>
          </a:p>
        </p:txBody>
      </p:sp>
      <p:sp>
        <p:nvSpPr>
          <p:cNvPr id="11" name="Rounded Rectangle 10"/>
          <p:cNvSpPr/>
          <p:nvPr/>
        </p:nvSpPr>
        <p:spPr>
          <a:xfrm>
            <a:off x="7223760" y="3566160"/>
            <a:ext cx="4663440" cy="2468880"/>
          </a:xfrm>
          <a:prstGeom prst="roundRect">
            <a:avLst/>
          </a:prstGeom>
          <a:solidFill>
            <a:srgbClr val="FBFDFC"/>
          </a:solidFill>
          <a:ln w="19050">
            <a:solidFill>
              <a:srgbClr val="00875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6B7B76"/>
                </a:solidFill>
              </a:rPr>
              <a:t>📷 Capture : carte des priorites
(onglet « Carte » du dashboard)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4876678" cy="11887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914400"/>
            <a:ext cx="2682172" cy="118872"/>
          </a:xfrm>
          <a:prstGeom prst="rect">
            <a:avLst/>
          </a:prstGeom>
          <a:solidFill>
            <a:srgbClr val="FFC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58850" y="914400"/>
            <a:ext cx="4632844" cy="118872"/>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
            <a:ext cx="10515600" cy="731520"/>
          </a:xfrm>
          <a:prstGeom prst="rect">
            <a:avLst/>
          </a:prstGeom>
          <a:noFill/>
        </p:spPr>
        <p:txBody>
          <a:bodyPr wrap="square" anchor="ctr">
            <a:spAutoFit/>
          </a:bodyPr>
          <a:lstStyle/>
          <a:p>
            <a:pPr algn="l"/>
            <a:r>
              <a:rPr sz="2600" b="1" i="0">
                <a:solidFill>
                  <a:srgbClr val="FFFFFF"/>
                </a:solidFill>
                <a:latin typeface="Calibri"/>
              </a:rPr>
              <a:t>Estimation des investissements</a:t>
            </a:r>
          </a:p>
        </p:txBody>
      </p:sp>
      <p:sp>
        <p:nvSpPr>
          <p:cNvPr id="7" name="TextBox 6"/>
          <p:cNvSpPr txBox="1"/>
          <p:nvPr/>
        </p:nvSpPr>
        <p:spPr>
          <a:xfrm>
            <a:off x="11155680" y="109728"/>
            <a:ext cx="822960" cy="731520"/>
          </a:xfrm>
          <a:prstGeom prst="rect">
            <a:avLst/>
          </a:prstGeom>
          <a:noFill/>
        </p:spPr>
        <p:txBody>
          <a:bodyPr wrap="square" anchor="ctr">
            <a:spAutoFit/>
          </a:bodyPr>
          <a:lstStyle/>
          <a:p>
            <a:pPr algn="r"/>
            <a:r>
              <a:rPr sz="1400" b="1" i="0">
                <a:solidFill>
                  <a:srgbClr val="FFCE00"/>
                </a:solidFill>
                <a:latin typeface="Calibri"/>
              </a:rPr>
              <a:t>8/10</a:t>
            </a:r>
          </a:p>
        </p:txBody>
      </p:sp>
      <p:sp>
        <p:nvSpPr>
          <p:cNvPr id="8" name="TextBox 7"/>
          <p:cNvSpPr txBox="1"/>
          <p:nvPr/>
        </p:nvSpPr>
        <p:spPr>
          <a:xfrm>
            <a:off x="457200" y="1234440"/>
            <a:ext cx="11247120" cy="822960"/>
          </a:xfrm>
          <a:prstGeom prst="rect">
            <a:avLst/>
          </a:prstGeom>
          <a:noFill/>
        </p:spPr>
        <p:txBody>
          <a:bodyPr wrap="square" anchor="t">
            <a:spAutoFit/>
          </a:bodyPr>
          <a:lstStyle/>
          <a:p>
            <a:pPr algn="l"/>
            <a:r>
              <a:rPr sz="1500" b="0" i="0">
                <a:solidFill>
                  <a:srgbClr val="1C2B27"/>
                </a:solidFill>
                <a:latin typeface="Calibri"/>
              </a:rPr>
              <a:t>Simulateur interactif : pour un territoire et un objectif de densite choisis, le tableau de bord calcule les points a creer et le budget en FCFA et en EUR (parite 1 € = 655,957 FCFA).</a:t>
            </a:r>
          </a:p>
        </p:txBody>
      </p:sp>
      <p:sp>
        <p:nvSpPr>
          <p:cNvPr id="9" name="TextBox 8"/>
          <p:cNvSpPr txBox="1"/>
          <p:nvPr/>
        </p:nvSpPr>
        <p:spPr>
          <a:xfrm>
            <a:off x="457200" y="2286000"/>
            <a:ext cx="11247120" cy="457200"/>
          </a:xfrm>
          <a:prstGeom prst="rect">
            <a:avLst/>
          </a:prstGeom>
          <a:noFill/>
        </p:spPr>
        <p:txBody>
          <a:bodyPr wrap="square" anchor="t">
            <a:spAutoFit/>
          </a:bodyPr>
          <a:lstStyle/>
          <a:p>
            <a:pPr algn="l"/>
            <a:r>
              <a:rPr sz="1500" b="1" i="0">
                <a:solidFill>
                  <a:srgbClr val="0B6E4F"/>
                </a:solidFill>
                <a:latin typeface="Calibri"/>
              </a:rPr>
              <a:t>Chiffrage national — objectif : 3 agents/1000 hab. &amp; 1,5 agence/100 000 hab.</a:t>
            </a:r>
          </a:p>
        </p:txBody>
      </p:sp>
      <p:sp>
        <p:nvSpPr>
          <p:cNvPr id="10" name="Rectangle 9"/>
          <p:cNvSpPr/>
          <p:nvPr/>
        </p:nvSpPr>
        <p:spPr>
          <a:xfrm>
            <a:off x="822960" y="2834640"/>
            <a:ext cx="3291840" cy="11430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44368"/>
            <a:ext cx="3291840" cy="548640"/>
          </a:xfrm>
          <a:prstGeom prst="rect">
            <a:avLst/>
          </a:prstGeom>
          <a:noFill/>
        </p:spPr>
        <p:txBody>
          <a:bodyPr wrap="square" anchor="ctr">
            <a:spAutoFit/>
          </a:bodyPr>
          <a:lstStyle/>
          <a:p>
            <a:pPr algn="ctr"/>
            <a:r>
              <a:rPr sz="3000" b="1" i="0">
                <a:solidFill>
                  <a:srgbClr val="FFFFFF"/>
                </a:solidFill>
                <a:latin typeface="Calibri"/>
              </a:rPr>
              <a:t>+6 800</a:t>
            </a:r>
          </a:p>
        </p:txBody>
      </p:sp>
      <p:sp>
        <p:nvSpPr>
          <p:cNvPr id="12" name="TextBox 11"/>
          <p:cNvSpPr txBox="1"/>
          <p:nvPr/>
        </p:nvSpPr>
        <p:spPr>
          <a:xfrm>
            <a:off x="822960" y="3493008"/>
            <a:ext cx="3291840" cy="457200"/>
          </a:xfrm>
          <a:prstGeom prst="rect">
            <a:avLst/>
          </a:prstGeom>
          <a:noFill/>
        </p:spPr>
        <p:txBody>
          <a:bodyPr wrap="square" anchor="ctr">
            <a:spAutoFit/>
          </a:bodyPr>
          <a:lstStyle/>
          <a:p>
            <a:pPr algn="ctr"/>
            <a:r>
              <a:rPr sz="1200" b="0" i="0">
                <a:solidFill>
                  <a:srgbClr val="FFFFFF"/>
                </a:solidFill>
                <a:latin typeface="Calibri"/>
              </a:rPr>
              <a:t>Points mobile money</a:t>
            </a:r>
          </a:p>
        </p:txBody>
      </p:sp>
      <p:sp>
        <p:nvSpPr>
          <p:cNvPr id="13" name="Rectangle 12"/>
          <p:cNvSpPr/>
          <p:nvPr/>
        </p:nvSpPr>
        <p:spPr>
          <a:xfrm>
            <a:off x="4389120" y="2834640"/>
            <a:ext cx="3291840" cy="1143000"/>
          </a:xfrm>
          <a:prstGeom prst="rect">
            <a:avLst/>
          </a:prstGeom>
          <a:solidFill>
            <a:srgbClr val="0087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944368"/>
            <a:ext cx="3291840" cy="548640"/>
          </a:xfrm>
          <a:prstGeom prst="rect">
            <a:avLst/>
          </a:prstGeom>
          <a:noFill/>
        </p:spPr>
        <p:txBody>
          <a:bodyPr wrap="square" anchor="ctr">
            <a:spAutoFit/>
          </a:bodyPr>
          <a:lstStyle/>
          <a:p>
            <a:pPr algn="ctr"/>
            <a:r>
              <a:rPr sz="3000" b="1" i="0">
                <a:solidFill>
                  <a:srgbClr val="FFFFFF"/>
                </a:solidFill>
                <a:latin typeface="Calibri"/>
              </a:rPr>
              <a:t>+43</a:t>
            </a:r>
          </a:p>
        </p:txBody>
      </p:sp>
      <p:sp>
        <p:nvSpPr>
          <p:cNvPr id="15" name="TextBox 14"/>
          <p:cNvSpPr txBox="1"/>
          <p:nvPr/>
        </p:nvSpPr>
        <p:spPr>
          <a:xfrm>
            <a:off x="4389120" y="3493008"/>
            <a:ext cx="3291840" cy="457200"/>
          </a:xfrm>
          <a:prstGeom prst="rect">
            <a:avLst/>
          </a:prstGeom>
          <a:noFill/>
        </p:spPr>
        <p:txBody>
          <a:bodyPr wrap="square" anchor="ctr">
            <a:spAutoFit/>
          </a:bodyPr>
          <a:lstStyle/>
          <a:p>
            <a:pPr algn="ctr"/>
            <a:r>
              <a:rPr sz="1200" b="0" i="0">
                <a:solidFill>
                  <a:srgbClr val="FFFFFF"/>
                </a:solidFill>
                <a:latin typeface="Calibri"/>
              </a:rPr>
              <a:t>Agences telecoms</a:t>
            </a:r>
          </a:p>
        </p:txBody>
      </p:sp>
      <p:sp>
        <p:nvSpPr>
          <p:cNvPr id="16" name="Rectangle 15"/>
          <p:cNvSpPr/>
          <p:nvPr/>
        </p:nvSpPr>
        <p:spPr>
          <a:xfrm>
            <a:off x="7955279" y="2834640"/>
            <a:ext cx="3383280" cy="1143000"/>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79" y="2944368"/>
            <a:ext cx="3383280" cy="548640"/>
          </a:xfrm>
          <a:prstGeom prst="rect">
            <a:avLst/>
          </a:prstGeom>
          <a:noFill/>
        </p:spPr>
        <p:txBody>
          <a:bodyPr wrap="square" anchor="ctr">
            <a:spAutoFit/>
          </a:bodyPr>
          <a:lstStyle/>
          <a:p>
            <a:pPr algn="ctr"/>
            <a:r>
              <a:rPr sz="3000" b="1" i="0">
                <a:solidFill>
                  <a:srgbClr val="FFFFFF"/>
                </a:solidFill>
                <a:latin typeface="Calibri"/>
              </a:rPr>
              <a:t>78</a:t>
            </a:r>
          </a:p>
        </p:txBody>
      </p:sp>
      <p:sp>
        <p:nvSpPr>
          <p:cNvPr id="18" name="TextBox 17"/>
          <p:cNvSpPr txBox="1"/>
          <p:nvPr/>
        </p:nvSpPr>
        <p:spPr>
          <a:xfrm>
            <a:off x="7955279" y="3493008"/>
            <a:ext cx="3383280" cy="457200"/>
          </a:xfrm>
          <a:prstGeom prst="rect">
            <a:avLst/>
          </a:prstGeom>
          <a:noFill/>
        </p:spPr>
        <p:txBody>
          <a:bodyPr wrap="square" anchor="ctr">
            <a:spAutoFit/>
          </a:bodyPr>
          <a:lstStyle/>
          <a:p>
            <a:pPr algn="ctr"/>
            <a:r>
              <a:rPr sz="1200" b="0" i="0">
                <a:solidFill>
                  <a:srgbClr val="FFFFFF"/>
                </a:solidFill>
                <a:latin typeface="Calibri"/>
              </a:rPr>
              <a:t>Zones blanches a resorber</a:t>
            </a:r>
          </a:p>
        </p:txBody>
      </p:sp>
      <p:sp>
        <p:nvSpPr>
          <p:cNvPr id="19" name="Rectangle 18"/>
          <p:cNvSpPr/>
          <p:nvPr/>
        </p:nvSpPr>
        <p:spPr>
          <a:xfrm>
            <a:off x="822960" y="4297680"/>
            <a:ext cx="5212080" cy="13716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434840"/>
            <a:ext cx="5212080" cy="457200"/>
          </a:xfrm>
          <a:prstGeom prst="rect">
            <a:avLst/>
          </a:prstGeom>
          <a:noFill/>
        </p:spPr>
        <p:txBody>
          <a:bodyPr wrap="square" anchor="t">
            <a:spAutoFit/>
          </a:bodyPr>
          <a:lstStyle/>
          <a:p>
            <a:pPr algn="ctr"/>
            <a:r>
              <a:rPr sz="1500" b="0" i="0">
                <a:solidFill>
                  <a:srgbClr val="FFFFFF"/>
                </a:solidFill>
                <a:latin typeface="Calibri"/>
              </a:rPr>
              <a:t>Investissement total</a:t>
            </a:r>
          </a:p>
        </p:txBody>
      </p:sp>
      <p:sp>
        <p:nvSpPr>
          <p:cNvPr id="21" name="TextBox 20"/>
          <p:cNvSpPr txBox="1"/>
          <p:nvPr/>
        </p:nvSpPr>
        <p:spPr>
          <a:xfrm>
            <a:off x="822960" y="4892040"/>
            <a:ext cx="5212080" cy="640080"/>
          </a:xfrm>
          <a:prstGeom prst="rect">
            <a:avLst/>
          </a:prstGeom>
          <a:noFill/>
        </p:spPr>
        <p:txBody>
          <a:bodyPr wrap="square" anchor="t">
            <a:spAutoFit/>
          </a:bodyPr>
          <a:lstStyle/>
          <a:p>
            <a:pPr algn="ctr"/>
            <a:r>
              <a:rPr sz="2600" b="1" i="0">
                <a:solidFill>
                  <a:srgbClr val="FFFFFF"/>
                </a:solidFill>
                <a:latin typeface="Calibri"/>
              </a:rPr>
              <a:t>3 303 500 000 FCFA</a:t>
            </a:r>
          </a:p>
        </p:txBody>
      </p:sp>
      <p:sp>
        <p:nvSpPr>
          <p:cNvPr id="22" name="Rectangle 21"/>
          <p:cNvSpPr/>
          <p:nvPr/>
        </p:nvSpPr>
        <p:spPr>
          <a:xfrm>
            <a:off x="6217920" y="4297680"/>
            <a:ext cx="5120640" cy="1371600"/>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4434840"/>
            <a:ext cx="5120640" cy="457200"/>
          </a:xfrm>
          <a:prstGeom prst="rect">
            <a:avLst/>
          </a:prstGeom>
          <a:noFill/>
        </p:spPr>
        <p:txBody>
          <a:bodyPr wrap="square" anchor="t">
            <a:spAutoFit/>
          </a:bodyPr>
          <a:lstStyle/>
          <a:p>
            <a:pPr algn="ctr"/>
            <a:r>
              <a:rPr sz="1500" b="0" i="0">
                <a:solidFill>
                  <a:srgbClr val="FFFFFF"/>
                </a:solidFill>
                <a:latin typeface="Calibri"/>
              </a:rPr>
              <a:t>Equivalent euros</a:t>
            </a:r>
          </a:p>
        </p:txBody>
      </p:sp>
      <p:sp>
        <p:nvSpPr>
          <p:cNvPr id="24" name="TextBox 23"/>
          <p:cNvSpPr txBox="1"/>
          <p:nvPr/>
        </p:nvSpPr>
        <p:spPr>
          <a:xfrm>
            <a:off x="6217920" y="4892040"/>
            <a:ext cx="5120640" cy="640080"/>
          </a:xfrm>
          <a:prstGeom prst="rect">
            <a:avLst/>
          </a:prstGeom>
          <a:noFill/>
        </p:spPr>
        <p:txBody>
          <a:bodyPr wrap="square" anchor="t">
            <a:spAutoFit/>
          </a:bodyPr>
          <a:lstStyle/>
          <a:p>
            <a:pPr algn="ctr"/>
            <a:r>
              <a:rPr sz="2600" b="1" i="0">
                <a:solidFill>
                  <a:srgbClr val="FFFFFF"/>
                </a:solidFill>
                <a:latin typeface="Calibri"/>
              </a:rPr>
              <a:t>≈ 5 036 153 €</a:t>
            </a:r>
          </a:p>
        </p:txBody>
      </p:sp>
      <p:sp>
        <p:nvSpPr>
          <p:cNvPr id="25" name="TextBox 24"/>
          <p:cNvSpPr txBox="1"/>
          <p:nvPr/>
        </p:nvSpPr>
        <p:spPr>
          <a:xfrm>
            <a:off x="457200" y="5852160"/>
            <a:ext cx="11247120" cy="548640"/>
          </a:xfrm>
          <a:prstGeom prst="rect">
            <a:avLst/>
          </a:prstGeom>
          <a:noFill/>
        </p:spPr>
        <p:txBody>
          <a:bodyPr wrap="square" anchor="t">
            <a:spAutoFit/>
          </a:bodyPr>
          <a:lstStyle/>
          <a:p>
            <a:pPr algn="ctr"/>
            <a:r>
              <a:rPr sz="1300" b="0" i="1">
                <a:solidFill>
                  <a:srgbClr val="6B7B76"/>
                </a:solidFill>
                <a:latin typeface="Calibri"/>
              </a:rPr>
              <a:t>Budget entierement modulable (objectifs et couts unitaires) et ventilable par prefecture.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4876678" cy="11887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914400"/>
            <a:ext cx="2682172" cy="118872"/>
          </a:xfrm>
          <a:prstGeom prst="rect">
            <a:avLst/>
          </a:prstGeom>
          <a:solidFill>
            <a:srgbClr val="FFC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58850" y="914400"/>
            <a:ext cx="4632844" cy="118872"/>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
            <a:ext cx="10515600" cy="731520"/>
          </a:xfrm>
          <a:prstGeom prst="rect">
            <a:avLst/>
          </a:prstGeom>
          <a:noFill/>
        </p:spPr>
        <p:txBody>
          <a:bodyPr wrap="square" anchor="ctr">
            <a:spAutoFit/>
          </a:bodyPr>
          <a:lstStyle/>
          <a:p>
            <a:pPr algn="l"/>
            <a:r>
              <a:rPr sz="2600" b="1" i="0">
                <a:solidFill>
                  <a:srgbClr val="FFFFFF"/>
                </a:solidFill>
                <a:latin typeface="Calibri"/>
              </a:rPr>
              <a:t>Recommandations strategiques</a:t>
            </a:r>
          </a:p>
        </p:txBody>
      </p:sp>
      <p:sp>
        <p:nvSpPr>
          <p:cNvPr id="7" name="TextBox 6"/>
          <p:cNvSpPr txBox="1"/>
          <p:nvPr/>
        </p:nvSpPr>
        <p:spPr>
          <a:xfrm>
            <a:off x="11155680" y="109728"/>
            <a:ext cx="822960" cy="731520"/>
          </a:xfrm>
          <a:prstGeom prst="rect">
            <a:avLst/>
          </a:prstGeom>
          <a:noFill/>
        </p:spPr>
        <p:txBody>
          <a:bodyPr wrap="square" anchor="ctr">
            <a:spAutoFit/>
          </a:bodyPr>
          <a:lstStyle/>
          <a:p>
            <a:pPr algn="r"/>
            <a:r>
              <a:rPr sz="1400" b="1" i="0">
                <a:solidFill>
                  <a:srgbClr val="FFCE00"/>
                </a:solidFill>
                <a:latin typeface="Calibri"/>
              </a:rPr>
              <a:t>9/10</a:t>
            </a:r>
          </a:p>
        </p:txBody>
      </p:sp>
      <p:sp>
        <p:nvSpPr>
          <p:cNvPr id="8" name="TextBox 7"/>
          <p:cNvSpPr txBox="1"/>
          <p:nvPr/>
        </p:nvSpPr>
        <p:spPr>
          <a:xfrm>
            <a:off x="640080" y="1371600"/>
            <a:ext cx="10972800" cy="4572000"/>
          </a:xfrm>
          <a:prstGeom prst="rect">
            <a:avLst/>
          </a:prstGeom>
          <a:noFill/>
        </p:spPr>
        <p:txBody>
          <a:bodyPr wrap="square">
            <a:spAutoFit/>
          </a:bodyPr>
          <a:lstStyle/>
          <a:p>
            <a:pPr>
              <a:spcAft>
                <a:spcPts val="800"/>
              </a:spcAft>
            </a:pPr>
            <a:r>
              <a:rPr sz="1800">
                <a:solidFill>
                  <a:srgbClr val="1C2B27"/>
                </a:solidFill>
                <a:latin typeface="Calibri"/>
              </a:rPr>
              <a:t>•  Cibler les prefectures a score eleve : Kpendjal, Mo, Kpendjal-Ouest, Tandjoare, Est-Mono.</a:t>
            </a:r>
          </a:p>
          <a:p>
            <a:pPr>
              <a:spcAft>
                <a:spcPts val="800"/>
              </a:spcAft>
            </a:pPr>
            <a:r>
              <a:rPr sz="1800">
                <a:solidFill>
                  <a:srgbClr val="1C2B27"/>
                </a:solidFill>
                <a:latin typeface="Calibri"/>
              </a:rPr>
              <a:t>•  Resorber les 78 zones blanches via des reseaux d'agents mobile money de proximite.</a:t>
            </a:r>
          </a:p>
          <a:p>
            <a:pPr>
              <a:spcAft>
                <a:spcPts val="800"/>
              </a:spcAft>
            </a:pPr>
            <a:r>
              <a:rPr sz="1800">
                <a:solidFill>
                  <a:srgbClr val="1C2B27"/>
                </a:solidFill>
                <a:latin typeface="Calibri"/>
              </a:rPr>
              <a:t>•  Deconcentrer les datacenters hors du Grand Lome (resilience &amp; souverainete des donnees).</a:t>
            </a:r>
          </a:p>
          <a:p>
            <a:pPr>
              <a:spcAft>
                <a:spcPts val="800"/>
              </a:spcAft>
            </a:pPr>
            <a:r>
              <a:rPr sz="1800">
                <a:solidFill>
                  <a:srgbClr val="1C2B27"/>
                </a:solidFill>
                <a:latin typeface="Calibri"/>
              </a:rPr>
              <a:t>•  Ouvrir des agences telecoms dans les 12 prefectures qui en sont depourvues.</a:t>
            </a:r>
          </a:p>
          <a:p>
            <a:pPr>
              <a:spcAft>
                <a:spcPts val="800"/>
              </a:spcAft>
            </a:pPr>
            <a:r>
              <a:rPr sz="1800">
                <a:solidFill>
                  <a:srgbClr val="1C2B27"/>
                </a:solidFill>
                <a:latin typeface="Calibri"/>
              </a:rPr>
              <a:t>•  Piloter les investissements par le simulateur (objectifs de densite, budget FCFA/EUR par territoire).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4876678" cy="11887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914400"/>
            <a:ext cx="2682172" cy="118872"/>
          </a:xfrm>
          <a:prstGeom prst="rect">
            <a:avLst/>
          </a:prstGeom>
          <a:solidFill>
            <a:srgbClr val="FFC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58850" y="914400"/>
            <a:ext cx="4632844" cy="118872"/>
          </a:xfrm>
          <a:prstGeom prst="rect">
            <a:avLst/>
          </a:prstGeom>
          <a:solidFill>
            <a:srgbClr val="D21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
            <a:ext cx="10515600" cy="731520"/>
          </a:xfrm>
          <a:prstGeom prst="rect">
            <a:avLst/>
          </a:prstGeom>
          <a:noFill/>
        </p:spPr>
        <p:txBody>
          <a:bodyPr wrap="square" anchor="ctr">
            <a:spAutoFit/>
          </a:bodyPr>
          <a:lstStyle/>
          <a:p>
            <a:pPr algn="l"/>
            <a:r>
              <a:rPr sz="2600" b="1" i="0">
                <a:solidFill>
                  <a:srgbClr val="FFFFFF"/>
                </a:solidFill>
                <a:latin typeface="Calibri"/>
              </a:rPr>
              <a:t>Tableau de bord &amp; conclusion</a:t>
            </a:r>
          </a:p>
        </p:txBody>
      </p:sp>
      <p:sp>
        <p:nvSpPr>
          <p:cNvPr id="7" name="TextBox 6"/>
          <p:cNvSpPr txBox="1"/>
          <p:nvPr/>
        </p:nvSpPr>
        <p:spPr>
          <a:xfrm>
            <a:off x="11155680" y="109728"/>
            <a:ext cx="822960" cy="731520"/>
          </a:xfrm>
          <a:prstGeom prst="rect">
            <a:avLst/>
          </a:prstGeom>
          <a:noFill/>
        </p:spPr>
        <p:txBody>
          <a:bodyPr wrap="square" anchor="ctr">
            <a:spAutoFit/>
          </a:bodyPr>
          <a:lstStyle/>
          <a:p>
            <a:pPr algn="r"/>
            <a:r>
              <a:rPr sz="1400" b="1" i="0">
                <a:solidFill>
                  <a:srgbClr val="FFCE00"/>
                </a:solidFill>
                <a:latin typeface="Calibri"/>
              </a:rPr>
              <a:t>10/10</a:t>
            </a:r>
          </a:p>
        </p:txBody>
      </p:sp>
      <p:sp>
        <p:nvSpPr>
          <p:cNvPr id="8" name="Rounded Rectangle 7"/>
          <p:cNvSpPr/>
          <p:nvPr/>
        </p:nvSpPr>
        <p:spPr>
          <a:xfrm>
            <a:off x="457200" y="1371600"/>
            <a:ext cx="6583680" cy="4206240"/>
          </a:xfrm>
          <a:prstGeom prst="roundRect">
            <a:avLst/>
          </a:prstGeom>
          <a:solidFill>
            <a:srgbClr val="FBFDFC"/>
          </a:solidFill>
          <a:ln w="19050">
            <a:solidFill>
              <a:srgbClr val="00875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6B7B76"/>
                </a:solidFill>
              </a:rPr>
              <a:t>📷 Capture d'ecran du tableau de bord
(page d'accueil — a inserer)</a:t>
            </a:r>
          </a:p>
        </p:txBody>
      </p:sp>
      <p:sp>
        <p:nvSpPr>
          <p:cNvPr id="9" name="TextBox 8"/>
          <p:cNvSpPr txBox="1"/>
          <p:nvPr/>
        </p:nvSpPr>
        <p:spPr>
          <a:xfrm>
            <a:off x="7315200" y="1463040"/>
            <a:ext cx="4572000" cy="457200"/>
          </a:xfrm>
          <a:prstGeom prst="rect">
            <a:avLst/>
          </a:prstGeom>
          <a:noFill/>
        </p:spPr>
        <p:txBody>
          <a:bodyPr wrap="square" anchor="t">
            <a:spAutoFit/>
          </a:bodyPr>
          <a:lstStyle/>
          <a:p>
            <a:pPr algn="l"/>
            <a:r>
              <a:rPr sz="1700" b="1" i="0">
                <a:solidFill>
                  <a:srgbClr val="D21034"/>
                </a:solidFill>
                <a:latin typeface="Calibri"/>
              </a:rPr>
              <a:t>Ce que livre l'outil</a:t>
            </a:r>
          </a:p>
        </p:txBody>
      </p:sp>
      <p:sp>
        <p:nvSpPr>
          <p:cNvPr id="10" name="TextBox 9"/>
          <p:cNvSpPr txBox="1"/>
          <p:nvPr/>
        </p:nvSpPr>
        <p:spPr>
          <a:xfrm>
            <a:off x="7315200" y="2011680"/>
            <a:ext cx="4572000" cy="3474720"/>
          </a:xfrm>
          <a:prstGeom prst="rect">
            <a:avLst/>
          </a:prstGeom>
          <a:noFill/>
        </p:spPr>
        <p:txBody>
          <a:bodyPr wrap="square">
            <a:spAutoFit/>
          </a:bodyPr>
          <a:lstStyle/>
          <a:p>
            <a:pPr>
              <a:spcAft>
                <a:spcPts val="800"/>
              </a:spcAft>
            </a:pPr>
            <a:r>
              <a:rPr sz="1500">
                <a:solidFill>
                  <a:srgbClr val="1C2B27"/>
                </a:solidFill>
                <a:latin typeface="Calibri"/>
              </a:rPr>
              <a:t>•  Diagnostic clair et territorialise.</a:t>
            </a:r>
          </a:p>
          <a:p>
            <a:pPr>
              <a:spcAft>
                <a:spcPts val="800"/>
              </a:spcAft>
            </a:pPr>
            <a:r>
              <a:rPr sz="1500">
                <a:solidFill>
                  <a:srgbClr val="1C2B27"/>
                </a:solidFill>
                <a:latin typeface="Calibri"/>
              </a:rPr>
              <a:t>•  8 onglets, filtres jusqu au canton.</a:t>
            </a:r>
          </a:p>
          <a:p>
            <a:pPr>
              <a:spcAft>
                <a:spcPts val="800"/>
              </a:spcAft>
            </a:pPr>
            <a:r>
              <a:rPr sz="1500">
                <a:solidFill>
                  <a:srgbClr val="1C2B27"/>
                </a:solidFill>
                <a:latin typeface="Calibri"/>
              </a:rPr>
              <a:t>•  Cartes Highmaps &amp; graphiques Highcharts.</a:t>
            </a:r>
          </a:p>
          <a:p>
            <a:pPr>
              <a:spcAft>
                <a:spcPts val="800"/>
              </a:spcAft>
            </a:pPr>
            <a:r>
              <a:rPr sz="1500">
                <a:solidFill>
                  <a:srgbClr val="1C2B27"/>
                </a:solidFill>
                <a:latin typeface="Calibri"/>
              </a:rPr>
              <a:t>•  Simulateur d'investissement FCFA/EUR.</a:t>
            </a:r>
          </a:p>
          <a:p>
            <a:pPr>
              <a:spcAft>
                <a:spcPts val="800"/>
              </a:spcAft>
            </a:pPr>
            <a:r>
              <a:rPr sz="1500">
                <a:solidFill>
                  <a:srgbClr val="1C2B27"/>
                </a:solidFill>
                <a:latin typeface="Calibri"/>
              </a:rPr>
              <a:t>•  Application autonome, chargement rapide.</a:t>
            </a:r>
          </a:p>
        </p:txBody>
      </p:sp>
      <p:sp>
        <p:nvSpPr>
          <p:cNvPr id="11" name="Rectangle 10"/>
          <p:cNvSpPr/>
          <p:nvPr/>
        </p:nvSpPr>
        <p:spPr>
          <a:xfrm>
            <a:off x="0" y="6035040"/>
            <a:ext cx="12191695" cy="82296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035040"/>
            <a:ext cx="11247120" cy="822960"/>
          </a:xfrm>
          <a:prstGeom prst="rect">
            <a:avLst/>
          </a:prstGeom>
          <a:noFill/>
        </p:spPr>
        <p:txBody>
          <a:bodyPr wrap="square" anchor="ctr">
            <a:spAutoFit/>
          </a:bodyPr>
          <a:lstStyle/>
          <a:p>
            <a:pPr algn="ctr"/>
            <a:r>
              <a:rPr sz="1400" b="1" i="0">
                <a:solidFill>
                  <a:srgbClr val="FFFFFF"/>
                </a:solidFill>
                <a:latin typeface="Calibri"/>
              </a:rPr>
              <a:t>Maurice Kodjo SEKOU — Analyste Statisticien  ·  Data Challenge Economie Numerique, Togo AI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